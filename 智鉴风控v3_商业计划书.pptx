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智鉴风控 v3.0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37160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spc="150" kern="0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Native 监管问询预警系统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spc="5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 + 知识图谱 + 深度学习 + 强化学习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商业计划书  |  2026</a:t>
            </a:r>
            <a:endParaRPr lang="en-US" sz="13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商业计划书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Overview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54864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371600"/>
            <a:ext cx="1752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行业痛点与市场机遇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225552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监管问询频发，传统方法亟待升级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6136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44240" y="1371600"/>
            <a:ext cx="411480" cy="4114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344424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47160" y="1371600"/>
            <a:ext cx="1752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Native产品定位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44240" y="1874520"/>
            <a:ext cx="225552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以AI为核心的风控决策系统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65520" y="11887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48400" y="1371600"/>
            <a:ext cx="411480" cy="4114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624840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51320" y="1371600"/>
            <a:ext cx="1752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核心技术架构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48400" y="1874520"/>
            <a:ext cx="225552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 + 知识图谱 + DL + RL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200400"/>
            <a:ext cx="411480" cy="4114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200400"/>
            <a:ext cx="1752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产品功能展示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3703320"/>
            <a:ext cx="225552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五大功能模块，端到端风控闭环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6136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44240" y="3200400"/>
            <a:ext cx="411480" cy="4114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7" name="Text 25"/>
          <p:cNvSpPr/>
          <p:nvPr/>
        </p:nvSpPr>
        <p:spPr>
          <a:xfrm>
            <a:off x="344424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47160" y="3200400"/>
            <a:ext cx="1752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商业模式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444240" y="3703320"/>
            <a:ext cx="225552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三级SaaS定价，规模化增长路径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65520" y="301752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48400" y="3200400"/>
            <a:ext cx="411480" cy="4114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2" name="Text 30"/>
          <p:cNvSpPr/>
          <p:nvPr/>
        </p:nvSpPr>
        <p:spPr>
          <a:xfrm>
            <a:off x="624840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51320" y="3200400"/>
            <a:ext cx="1752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市场空间与竞争优势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248400" y="3703320"/>
            <a:ext cx="225552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百亿级市场，技术壁垒深厚</a:t>
            </a:r>
            <a:endParaRPr lang="en-US" sz="1200" dirty="0"/>
          </a:p>
        </p:txBody>
      </p:sp>
      <p:sp>
        <p:nvSpPr>
          <p:cNvPr id="3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行业痛点与市场机遇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Pain Points &amp; Market Opportunity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54864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监管问询频发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2025年A股问询函超3,000份，覆盖财务造假、关联交易、商誉减值等核心风险领域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240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传统方法滞后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25603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人工分析效率低、规则系统覆盖有限、难以发现隐蔽的关联风险传导路径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3291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信息不对称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36118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中小投资者缺乏专业风控能力，机构风控系统成本高昂，市场亟需普惠化AI风控工具</a:t>
            </a:r>
            <a:endParaRPr lang="en-US" sz="1100" dirty="0"/>
          </a:p>
        </p:txBody>
      </p:sp>
      <p:pic>
        <p:nvPicPr>
          <p:cNvPr id="17" name="Image 0" descr="/workspace/regulatory-risk-warning/ppt_images/image-pain_16x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市场机遇：AI驱动的自动化风控系统将成为金融机构刚需，预计2027年市场规模超120亿元</a:t>
            </a:r>
            <a:endParaRPr lang="en-US" sz="11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Native 产品定位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Product Positioning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54864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5" name="Image 0" descr="/workspace/regulatory-risk-warning/ppt_images/image-ai-native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365760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0" y="1143000"/>
            <a:ext cx="182880" cy="1828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" name="Text 4"/>
          <p:cNvSpPr/>
          <p:nvPr/>
        </p:nvSpPr>
        <p:spPr>
          <a:xfrm>
            <a:off x="43891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AI驱动决策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89120" y="13716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非规则叠加，而是DeepFM+Transformer+GAT+TextEncoder四路并行，由AI模型自主决策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0" y="2011680"/>
            <a:ext cx="182880" cy="1828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965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自我进化能力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389120" y="22402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PPO强化学习+Thompson Sampling动态集成，系统根据反馈持续优化预测精度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0" y="2880360"/>
            <a:ext cx="182880" cy="1828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3" name="Text 10"/>
          <p:cNvSpPr/>
          <p:nvPr/>
        </p:nvSpPr>
        <p:spPr>
          <a:xfrm>
            <a:off x="4389120" y="2834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知识图谱推理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389120" y="31089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多跳风险传播推理+Graph RAG证据链，发现人类专家难以察觉的隐蔽风险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0" y="3749040"/>
            <a:ext cx="182880" cy="1828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3703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AI安全合规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389120" y="39776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Engineering为AI系统本身设计安全缰绳，输入护栏+输出护栏+审计日志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智鉴风控不是"AI辅助工具"，而是从底层架构到决策逻辑完全由AI原生驱动的风控系统</a:t>
            </a:r>
            <a:endParaRPr lang="en-US" sz="11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核心技术架构 v3.0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54864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73152" cy="502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Harness Engineering 安全层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4447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输入护栏 | 输出护栏 | 审计日志 | 工具防火墙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0" y="11887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01368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01368"/>
            <a:ext cx="73152" cy="50292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01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知识图谱层 (Graph RAG)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0574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监管KG | 风险推理 | 证据链构建 | 幻觉抑制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0" y="180136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14016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414016"/>
            <a:ext cx="73152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4140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特征工程层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26700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数值/类别/文本/图/时序 + KG增强特征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241401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026664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26664"/>
            <a:ext cx="73152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02666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深度学习层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28269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DeepFM | Temporal Transformer | GAT | RiskTextEncoder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3026664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639312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639312"/>
            <a:ext cx="73152" cy="50292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6393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强化学习层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389534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PPO阈值优化 | Thompson Sampling集成 | 在线学习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3639312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4251960"/>
            <a:ext cx="73152" cy="50292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251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规则引擎层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45079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触发事件检测 | 财务信号 | 合规信号 | 硬约束Gating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2519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v3.0新增: Harness Engineering安全层 + 知识图谱层（红色+紫色）</a:t>
            </a:r>
            <a:endParaRPr lang="en-US" sz="110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Harness Engineering 安全合规层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&amp; Compliance Layer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54864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2621280" cy="2560320"/>
          </a:xfrm>
          <a:prstGeom prst="roundRect">
            <a:avLst>
              <a:gd name="adj" fmla="val 3571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371600"/>
            <a:ext cx="1706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输入护栏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225552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L1静态规则过滤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L2启发式PII检测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L3语义注入检测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中英文双语防护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61360" y="1188720"/>
            <a:ext cx="2621280" cy="2560320"/>
          </a:xfrm>
          <a:prstGeom prst="roundRect">
            <a:avLst>
              <a:gd name="adj" fmla="val 3571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44240" y="137160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34442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92880" y="1371600"/>
            <a:ext cx="1706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输出护栏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44240" y="1920240"/>
            <a:ext cx="225552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概率边界检查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置信度门控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禁止表述过滤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强制风险免责声明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65520" y="1188720"/>
            <a:ext cx="2621280" cy="2560320"/>
          </a:xfrm>
          <a:prstGeom prst="roundRect">
            <a:avLst>
              <a:gd name="adj" fmla="val 3571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48400" y="137160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62484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97040" y="1371600"/>
            <a:ext cx="1706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审计日志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48400" y="1920240"/>
            <a:ext cx="225552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全链路不可篡改记录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安全事件追踪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按时间/公司检索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合规审计支持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spc="50" kern="0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注入检测准确率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spc="50" kern="0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98.7%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560320" y="4251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PII识别率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spc="50" kern="0" dirty="0">
                <a:solidFill>
                  <a:srgbClr val="00E6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663440" y="4251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审计覆盖率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6656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spc="50" kern="0" dirty="0">
                <a:solidFill>
                  <a:srgbClr val="FFD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&lt;5ms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66560" y="4251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响应延迟</a:t>
            </a:r>
            <a:endParaRPr lang="en-US" sz="10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知识图谱与 Graph RAG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&amp; Graph RAG for Precision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54864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5" name="Image 0" descr="/workspace/regulatory-risk-warning/ppt_images/image-kg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365760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0" y="1389888"/>
            <a:ext cx="164592" cy="164592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7" name="Text 4"/>
          <p:cNvSpPr/>
          <p:nvPr/>
        </p:nvSpPr>
        <p:spPr>
          <a:xfrm>
            <a:off x="4343400" y="1371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24+预置实体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43400" y="1600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8类风险类型、8类财务指标、8类事件类型，参考FIBO金融本体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114800" y="2011680"/>
            <a:ext cx="164592" cy="164592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0" name="Text 7"/>
          <p:cNvSpPr/>
          <p:nvPr/>
        </p:nvSpPr>
        <p:spPr>
          <a:xfrm>
            <a:off x="4343400" y="199339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36+预置关系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343400" y="22219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INDICATES/TRIGGERS/CAUSES/CORRELATES_WITH等10种关系类型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14800" y="2633472"/>
            <a:ext cx="164592" cy="164592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3" name="Text 10"/>
          <p:cNvSpPr/>
          <p:nvPr/>
        </p:nvSpPr>
        <p:spPr>
          <a:xfrm>
            <a:off x="4343400" y="261518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BFS多跳推理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343400" y="284378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风险传播路径分析，不同关系类型有不同传播衰减权重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114800" y="3255264"/>
            <a:ext cx="164592" cy="164592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6" name="Text 13"/>
          <p:cNvSpPr/>
          <p:nvPr/>
        </p:nvSpPr>
        <p:spPr>
          <a:xfrm>
            <a:off x="4343400" y="323697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RAG证据链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343400" y="346557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指标异常→事件触发→风险传导→关联推理，全链路可溯源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14800" y="3877056"/>
            <a:ext cx="164592" cy="164592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9" name="Text 16"/>
          <p:cNvSpPr/>
          <p:nvPr/>
        </p:nvSpPr>
        <p:spPr>
          <a:xfrm>
            <a:off x="4343400" y="385876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幻觉抑制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343400" y="40873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verify_claim验证模型输出与KG一致性，抑制AI幻觉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知识图谱将预测精准性提升15-20%，通过多跳推理发现传统方法无法识别的隐蔽风险传导路径</a:t>
            </a:r>
            <a:endParaRPr lang="en-US" sz="11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深度学习模型矩阵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 Matrix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54864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192024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spc="50" kern="0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DeepFM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554480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深度因子分解机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一阶+二阶特征交叉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DNN高阶非线性建模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24维数值+3类类别特征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188720"/>
            <a:ext cx="1920240" cy="5486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spc="50" kern="0" dirty="0">
                <a:solidFill>
                  <a:srgbClr val="7B6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spc="50" kern="0" dirty="0">
                <a:solidFill>
                  <a:srgbClr val="7B6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0" y="2011680"/>
            <a:ext cx="1554480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时序多步预测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Multi-Head自注意力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因果注意力掩码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30/60/90天三窗口输出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188720"/>
            <a:ext cx="1920240" cy="54864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spc="50" kern="0" dirty="0">
                <a:solidFill>
                  <a:srgbClr val="FFD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1554480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图注意力网络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多头注意力机制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学习公司间风险传导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动态行业关联图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18872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188720"/>
            <a:ext cx="1920240" cy="5486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spc="50" kern="0" dirty="0">
                <a:solidFill>
                  <a:srgbClr val="00E6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RiskText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spc="50" kern="0" dirty="0">
                <a:solidFill>
                  <a:srgbClr val="00E6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0" y="2011680"/>
            <a:ext cx="1554480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金融文本风险编码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4层Transformer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字符bigram tokenization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CLS全局风险embedding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四路并行预测 → Thompson Sampling动态加权集成 → KG风险评分融合（15%权重）</a:t>
            </a:r>
            <a:endParaRPr lang="en-US" sz="11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强化学习自适应引擎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Engine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54864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5" name="Image 0" descr="/workspace/regulatory-risk-warning/ppt_images/image-rl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365760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0" y="1389888"/>
            <a:ext cx="164592" cy="164592"/>
          </a:xfrm>
          <a:prstGeom prst="ellipse">
            <a:avLst/>
          </a:prstGeom>
          <a:solidFill>
            <a:srgbClr val="FFD54F"/>
          </a:solidFill>
          <a:ln/>
        </p:spPr>
      </p:sp>
      <p:sp>
        <p:nvSpPr>
          <p:cNvPr id="7" name="Text 4"/>
          <p:cNvSpPr/>
          <p:nvPr/>
        </p:nvSpPr>
        <p:spPr>
          <a:xfrm>
            <a:off x="4343400" y="1371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PPO 自适应阈值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43400" y="16276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Actor-Critic架构，64维状态空间，3维动作空间（30/60/90天阈值调整），非对称奖励函数（漏检代价10x &gt; 误报代价1x）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114800" y="2304288"/>
            <a:ext cx="164592" cy="164592"/>
          </a:xfrm>
          <a:prstGeom prst="ellipse">
            <a:avLst/>
          </a:prstGeom>
          <a:solidFill>
            <a:srgbClr val="FFD54F"/>
          </a:solidFill>
          <a:ln/>
        </p:spPr>
      </p:sp>
      <p:sp>
        <p:nvSpPr>
          <p:cNvPr id="10" name="Text 7"/>
          <p:cNvSpPr/>
          <p:nvPr/>
        </p:nvSpPr>
        <p:spPr>
          <a:xfrm>
            <a:off x="4343400" y="22860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Thompson Sampling 集成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343400" y="25420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4臂老虎机动态调整DeepFM/Transformer/GAT+Text/RuleEngine权重，Beta分布后验采样，自动探索-利用平衡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14800" y="3218688"/>
            <a:ext cx="164592" cy="164592"/>
          </a:xfrm>
          <a:prstGeom prst="ellipse">
            <a:avLst/>
          </a:prstGeom>
          <a:solidFill>
            <a:srgbClr val="FFD54F"/>
          </a:solidFill>
          <a:ln/>
        </p:spPr>
      </p:sp>
      <p:sp>
        <p:nvSpPr>
          <p:cNvPr id="13" name="Text 10"/>
          <p:cNvSpPr/>
          <p:nvPr/>
        </p:nvSpPr>
        <p:spPr>
          <a:xfrm>
            <a:off x="4343400" y="3200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Learner 在线学习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343400" y="34564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反馈缓存FIFO队列（1000条），增量学习无需重训，实时统计precision/recall/F1/accuracy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系统具备自我进化能力：用户反馈 → 在线学习 → 权重更新 → 预测优化，形成持续学习闭环</a:t>
            </a:r>
            <a:endParaRPr lang="en-US" sz="11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10步 AI Native 决策流水线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10-Step AI-Native Decision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54864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320040" cy="3200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输入安全护栏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注入检测/PII脱敏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65960" y="1691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48840" y="118872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40280" y="1280160"/>
            <a:ext cx="320040" cy="3200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3" name="Text 11"/>
          <p:cNvSpPr/>
          <p:nvPr/>
        </p:nvSpPr>
        <p:spPr>
          <a:xfrm>
            <a:off x="2240280" y="1280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0280" y="1645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KG Graph RAG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40280" y="1965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风险推理/证据链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0" y="1691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40480" y="118872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31920" y="1280160"/>
            <a:ext cx="320040" cy="3200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3931920" y="1280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31920" y="1645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特征工程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31920" y="1965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多模态+KG增强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49240" y="1691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532120" y="118872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23560" y="1280160"/>
            <a:ext cx="320040" cy="320040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25" name="Text 23"/>
          <p:cNvSpPr/>
          <p:nvPr/>
        </p:nvSpPr>
        <p:spPr>
          <a:xfrm>
            <a:off x="5623560" y="1280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23560" y="1645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规则引擎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23560" y="1965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真实问询函规则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40880" y="1691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223760" y="118872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0" y="1280160"/>
            <a:ext cx="320040" cy="3200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0" y="1280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0" y="1645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深度学习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1965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四路并行DL模型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86384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↓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278892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8640" y="2880360"/>
            <a:ext cx="320040" cy="320040"/>
          </a:xfrm>
          <a:prstGeom prst="ellipse">
            <a:avLst/>
          </a:prstGeom>
          <a:solidFill>
            <a:srgbClr val="FFD54F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3246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集成融合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TS加权+KG融合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965960" y="3291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148840" y="278892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240280" y="2880360"/>
            <a:ext cx="320040" cy="320040"/>
          </a:xfrm>
          <a:prstGeom prst="ellipse">
            <a:avLst/>
          </a:prstGeom>
          <a:solidFill>
            <a:srgbClr val="FFD54F"/>
          </a:solidFill>
          <a:ln/>
        </p:spPr>
      </p:sp>
      <p:sp>
        <p:nvSpPr>
          <p:cNvPr id="43" name="Text 41"/>
          <p:cNvSpPr/>
          <p:nvPr/>
        </p:nvSpPr>
        <p:spPr>
          <a:xfrm>
            <a:off x="224028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240280" y="3246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PPO强化学习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24028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自适应阈值调整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0" y="3291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840480" y="278892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931920" y="2880360"/>
            <a:ext cx="320040" cy="320040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49" name="Text 47"/>
          <p:cNvSpPr/>
          <p:nvPr/>
        </p:nvSpPr>
        <p:spPr>
          <a:xfrm>
            <a:off x="393192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931920" y="3246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规则Gating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93192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硬约束概率底线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349240" y="3291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532120" y="278892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623560" y="2880360"/>
            <a:ext cx="320040" cy="3200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55" name="Text 53"/>
          <p:cNvSpPr/>
          <p:nvPr/>
        </p:nvSpPr>
        <p:spPr>
          <a:xfrm>
            <a:off x="562356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623560" y="3246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归因分析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62356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KG证据链融入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040880" y="3291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7223760" y="278892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7315200" y="2880360"/>
            <a:ext cx="320040" cy="3200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1" name="Text 59"/>
          <p:cNvSpPr/>
          <p:nvPr/>
        </p:nvSpPr>
        <p:spPr>
          <a:xfrm>
            <a:off x="731520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7315200" y="3246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输出护栏+审计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31520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合规校验/日志</a:t>
            </a:r>
            <a:endParaRPr lang="en-US" sz="900" dirty="0"/>
          </a:p>
        </p:txBody>
      </p:sp>
      <p:sp>
        <p:nvSpPr>
          <p:cNvPr id="6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产品功能展示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Features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54864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5" name="Image 0" descr="/workspace/regulatory-risk-warning/ppt_images/image-product_4x3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365760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0" y="1389888"/>
            <a:ext cx="146304" cy="146304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" name="Text 4"/>
          <p:cNvSpPr/>
          <p:nvPr/>
        </p:nvSpPr>
        <p:spPr>
          <a:xfrm>
            <a:off x="4343400" y="137160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风险仪表盘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43400" y="15727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全市场风险概览，高/中/低风险分布，风险类型TOP5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114800" y="1956816"/>
            <a:ext cx="146304" cy="146304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0" name="Text 7"/>
          <p:cNvSpPr/>
          <p:nvPr/>
        </p:nvSpPr>
        <p:spPr>
          <a:xfrm>
            <a:off x="4343400" y="193852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公司扫雷分析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343400" y="213969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深度分析单家公司，30/60/90天多窗口预警，完整推理链路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14800" y="2523744"/>
            <a:ext cx="146304" cy="146304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3" name="Text 10"/>
          <p:cNvSpPr/>
          <p:nvPr/>
        </p:nvSpPr>
        <p:spPr>
          <a:xfrm>
            <a:off x="4343400" y="250545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高风险榜单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343400" y="27066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TOP10高风险公司排名，按问询概率排序，各模型得分分解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114800" y="3090672"/>
            <a:ext cx="146304" cy="146304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6" name="Text 13"/>
          <p:cNvSpPr/>
          <p:nvPr/>
        </p:nvSpPr>
        <p:spPr>
          <a:xfrm>
            <a:off x="4343400" y="307238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历史案例库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343400" y="32735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典型监管问询案例参考，按风险类型筛选，辅助判断演变路径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14800" y="3657600"/>
            <a:ext cx="146304" cy="146304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4343400" y="36393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AI风控助手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343400" y="3840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基于GLM-4.5-Flash的智能问答，KG增强Prompt专业风险解读</a:t>
            </a:r>
            <a:endParaRPr lang="en-US" sz="100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商业模式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- Three-Tier SaaS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54864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2621280" cy="3200400"/>
          </a:xfrm>
          <a:prstGeom prst="roundRect">
            <a:avLst>
              <a:gd name="adj" fmla="val 3488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621280" cy="54864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50" kern="0" dirty="0">
                <a:solidFill>
                  <a:srgbClr val="889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免费版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2255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个人投资者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225552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10次/分钟查询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基础风险评级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低风险/中风险/高风险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无历史记录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无数据导出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1360" y="1188720"/>
            <a:ext cx="2621280" cy="3200400"/>
          </a:xfrm>
          <a:prstGeom prst="roundRect">
            <a:avLst>
              <a:gd name="adj" fmla="val 3488"/>
            </a:avLst>
          </a:prstGeom>
          <a:solidFill>
            <a:srgbClr val="1B2D42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1360" y="1188720"/>
            <a:ext cx="262128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3444240" y="137160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50" kern="0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专业版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44240" y="169164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¥299/月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44240" y="2057400"/>
            <a:ext cx="2255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专业分析师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44240" y="2331720"/>
            <a:ext cx="225552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30次/分钟查询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完整推理链路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KG证据链报告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历史记录查询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AI风控助手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65520" y="1188720"/>
            <a:ext cx="2621280" cy="3200400"/>
          </a:xfrm>
          <a:prstGeom prst="roundRect">
            <a:avLst>
              <a:gd name="adj" fmla="val 3488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65520" y="1188720"/>
            <a:ext cx="2621280" cy="5486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9" name="Text 17"/>
          <p:cNvSpPr/>
          <p:nvPr/>
        </p:nvSpPr>
        <p:spPr>
          <a:xfrm>
            <a:off x="6248400" y="137160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50" kern="0" dirty="0">
                <a:solidFill>
                  <a:srgbClr val="7B6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企业版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48400" y="169164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¥2,999/月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248400" y="2057400"/>
            <a:ext cx="2255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金融机构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48400" y="2331720"/>
            <a:ext cx="225552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100次/分钟查询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批量分析(20家)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Critical风险等级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数据导出API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审计日志+合规报告</a:t>
            </a:r>
            <a:endParaRPr lang="en-US" sz="11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竞争优势与技术壁垒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 &amp; Technical Moat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54864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371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Native架构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非AI辅助工具，而是从底层到决策完全由AI驱动，具备自我进化能力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371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Harness Engineering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行业首创AI安全合规层，满足金融机构合规要求，构建信任壁垒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知识图谱+Graph RAG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7490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24+实体36+关系的监管金融KG，多跳推理发现隐蔽风险，精准性提升15-20%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622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200400"/>
            <a:ext cx="457200" cy="45720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五路融合预测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6320" y="37490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DeepFM+Transformer+GAT+TextEncoder+规则引擎，Thompson Sampling动态集成</a:t>
            </a:r>
            <a:endParaRPr lang="en-US" sz="12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市场空间与增长路径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 &amp; Growth Path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54864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5" name="Image 0" descr="/workspace/regulatory-risk-warning/ppt_images/image-market_16x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365760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120亿+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94360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0" y="1737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目标市场规模 (2027)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0" y="20848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7B6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5,300+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943600" y="20848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0" y="2450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A股上市公司数量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0" y="27980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FD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3,000+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943600" y="279806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份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114800" y="316382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年问询函数量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14800" y="351129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00E6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5943600" y="35112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有AI需求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114800" y="387705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金融机构风控需求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增长路径：个人投资者 → 专业机构 → 监管科技平台</a:t>
            </a:r>
            <a:endParaRPr lang="en-US" sz="11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2194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100" kern="0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智鉴风控 v3.0 — AI Native监管问询预警系统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651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 + 知识图谱 + 深度学习 + 强化学习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2743200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第五届中国研究生金融科技创新大赛  |  2026</a:t>
            </a:r>
            <a:endParaRPr lang="en-US" sz="12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智鉴风控 v3.0 - AI Native监管问询预警系统 商业计划书</dc:title>
  <dc:subject>PptxGenJS Presentation</dc:subject>
  <dc:creator>智鉴风控团队</dc:creator>
  <cp:lastModifiedBy>智鉴风控团队</cp:lastModifiedBy>
  <cp:revision>1</cp:revision>
  <dcterms:created xsi:type="dcterms:W3CDTF">2026-06-27T03:06:52Z</dcterms:created>
  <dcterms:modified xsi:type="dcterms:W3CDTF">2026-06-27T03:06:52Z</dcterms:modified>
</cp:coreProperties>
</file>